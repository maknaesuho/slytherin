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Montserrat"/>
      <p:regular r:id="rId21"/>
      <p:bold r:id="rId22"/>
      <p:italic r:id="rId23"/>
      <p:boldItalic r:id="rId24"/>
    </p:embeddedFont>
    <p:embeddedFont>
      <p:font typeface="Plus Jakarta Sans"/>
      <p:regular r:id="rId25"/>
      <p:bold r:id="rId26"/>
      <p:italic r:id="rId27"/>
      <p:boldItalic r:id="rId28"/>
    </p:embeddedFont>
    <p:embeddedFont>
      <p:font typeface="Open Sans SemiBold"/>
      <p:regular r:id="rId29"/>
      <p:bold r:id="rId30"/>
      <p:italic r:id="rId31"/>
      <p:boldItalic r:id="rId32"/>
    </p:embeddedFont>
    <p:embeddedFont>
      <p:font typeface="Open Sans ExtraBold"/>
      <p:bold r:id="rId33"/>
      <p:boldItalic r:id="rId34"/>
    </p:embeddedFont>
    <p:embeddedFont>
      <p:font typeface="Open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Sofija Šarafejeva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font" Target="fonts/PlusJakartaSans-bold.fntdata"/><Relationship Id="rId25" Type="http://schemas.openxmlformats.org/officeDocument/2006/relationships/font" Target="fonts/PlusJakartaSans-regular.fntdata"/><Relationship Id="rId28" Type="http://schemas.openxmlformats.org/officeDocument/2006/relationships/font" Target="fonts/PlusJakartaSans-boldItalic.fntdata"/><Relationship Id="rId27" Type="http://schemas.openxmlformats.org/officeDocument/2006/relationships/font" Target="fonts/PlusJakarta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SemiBol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SemiBold-italic.fntdata"/><Relationship Id="rId30" Type="http://schemas.openxmlformats.org/officeDocument/2006/relationships/font" Target="fonts/OpenSansSemiBold-bold.fntdata"/><Relationship Id="rId11" Type="http://schemas.openxmlformats.org/officeDocument/2006/relationships/slide" Target="slides/slide5.xml"/><Relationship Id="rId33" Type="http://schemas.openxmlformats.org/officeDocument/2006/relationships/font" Target="fonts/OpenSansExtraBold-bold.fntdata"/><Relationship Id="rId10" Type="http://schemas.openxmlformats.org/officeDocument/2006/relationships/slide" Target="slides/slide4.xml"/><Relationship Id="rId32" Type="http://schemas.openxmlformats.org/officeDocument/2006/relationships/font" Target="fonts/OpenSansSemiBold-boldItalic.fntdata"/><Relationship Id="rId13" Type="http://schemas.openxmlformats.org/officeDocument/2006/relationships/slide" Target="slides/slide7.xml"/><Relationship Id="rId35" Type="http://schemas.openxmlformats.org/officeDocument/2006/relationships/font" Target="fonts/OpenSans-regular.fntdata"/><Relationship Id="rId12" Type="http://schemas.openxmlformats.org/officeDocument/2006/relationships/slide" Target="slides/slide6.xml"/><Relationship Id="rId34" Type="http://schemas.openxmlformats.org/officeDocument/2006/relationships/font" Target="fonts/OpenSansExtraBold-boldItalic.fntdata"/><Relationship Id="rId15" Type="http://schemas.openxmlformats.org/officeDocument/2006/relationships/slide" Target="slides/slide9.xml"/><Relationship Id="rId37" Type="http://schemas.openxmlformats.org/officeDocument/2006/relationships/font" Target="fonts/OpenSans-italic.fntdata"/><Relationship Id="rId14" Type="http://schemas.openxmlformats.org/officeDocument/2006/relationships/slide" Target="slides/slide8.xml"/><Relationship Id="rId36" Type="http://schemas.openxmlformats.org/officeDocument/2006/relationships/font" Target="fonts/OpenSans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OpenSans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10-23T06:56:41.636">
    <p:pos x="6000" y="0"/>
    <p:text>please rewrite the points to the content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hd0370f2507ac282_21_5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hd0370f2507ac282_21_5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0" name="Google Shape;140;hd0370f2507ac282_21_5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h6e3b62dd2898e917_1_6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h6e3b62dd2898e917_1_6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h6dd55f86025f2759_1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h6dd55f86025f2759_11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hd0370f2507ac282_0_9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Client: Gold, Test, 79 Years Old</a:t>
            </a:r>
            <a:endParaRPr/>
          </a:p>
        </p:txBody>
      </p:sp>
      <p:sp>
        <p:nvSpPr>
          <p:cNvPr id="304" name="Google Shape;304;hd0370f2507ac282_0_9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hd0370f2507ac282_0_13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hd0370f2507ac282_0_1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h58c2b616868b8b5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h58c2b616868b8b51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d0370f2507ac282_102_0)">
  <p:cSld name="Generated (hd0370f2507ac282_102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</a:defRPr>
            </a:lvl1pPr>
            <a:lvl2pPr lvl="1">
              <a:buNone/>
              <a:defRPr sz="1300">
                <a:solidFill>
                  <a:schemeClr val="dk1"/>
                </a:solidFill>
              </a:defRPr>
            </a:lvl2pPr>
            <a:lvl3pPr lvl="2">
              <a:buNone/>
              <a:defRPr sz="1300">
                <a:solidFill>
                  <a:schemeClr val="dk1"/>
                </a:solidFill>
              </a:defRPr>
            </a:lvl3pPr>
            <a:lvl4pPr lvl="3">
              <a:buNone/>
              <a:defRPr sz="1300">
                <a:solidFill>
                  <a:schemeClr val="dk1"/>
                </a:solidFill>
              </a:defRPr>
            </a:lvl4pPr>
            <a:lvl5pPr lvl="4">
              <a:buNone/>
              <a:defRPr sz="1300">
                <a:solidFill>
                  <a:schemeClr val="dk1"/>
                </a:solidFill>
              </a:defRPr>
            </a:lvl5pPr>
            <a:lvl6pPr lvl="5">
              <a:buNone/>
              <a:defRPr sz="1300">
                <a:solidFill>
                  <a:schemeClr val="dk1"/>
                </a:solidFill>
              </a:defRPr>
            </a:lvl6pPr>
            <a:lvl7pPr lvl="6">
              <a:buNone/>
              <a:defRPr sz="1300">
                <a:solidFill>
                  <a:schemeClr val="dk1"/>
                </a:solidFill>
              </a:defRPr>
            </a:lvl7pPr>
            <a:lvl8pPr lvl="7">
              <a:buNone/>
              <a:defRPr sz="1300">
                <a:solidFill>
                  <a:schemeClr val="dk1"/>
                </a:solidFill>
              </a:defRPr>
            </a:lvl8pPr>
            <a:lvl9pPr lvl="8">
              <a:buNone/>
              <a:defRPr sz="13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omments" Target="../comments/comment1.xml"/><Relationship Id="rId4" Type="http://schemas.openxmlformats.org/officeDocument/2006/relationships/image" Target="../media/image20.png"/><Relationship Id="rId5" Type="http://schemas.openxmlformats.org/officeDocument/2006/relationships/hyperlink" Target="https://public.tableau.com/app/profile/sofija.sarafejeva/viz/slytherinanalysis/Dashboard1" TargetMode="External"/><Relationship Id="rId6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8.png"/><Relationship Id="rId10" Type="http://schemas.openxmlformats.org/officeDocument/2006/relationships/image" Target="../media/image17.png"/><Relationship Id="rId13" Type="http://schemas.openxmlformats.org/officeDocument/2006/relationships/image" Target="../media/image19.png"/><Relationship Id="rId1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16.png"/><Relationship Id="rId8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E1B32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/>
          <p:nvPr/>
        </p:nvSpPr>
        <p:spPr>
          <a:xfrm>
            <a:off x="762000" y="4615755"/>
            <a:ext cx="9525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762000" y="946844"/>
            <a:ext cx="107156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VANGUARD GROUP</a:t>
            </a:r>
            <a:endParaRPr/>
          </a:p>
        </p:txBody>
      </p:sp>
      <p:sp>
        <p:nvSpPr>
          <p:cNvPr id="88" name="Google Shape;88;p14"/>
          <p:cNvSpPr txBox="1"/>
          <p:nvPr/>
        </p:nvSpPr>
        <p:spPr>
          <a:xfrm>
            <a:off x="762000" y="1384994"/>
            <a:ext cx="9101137" cy="292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Digital Interface Experiment: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A/B Test &amp; Funnel Analysis</a:t>
            </a:r>
            <a:endParaRPr/>
          </a:p>
        </p:txBody>
      </p:sp>
      <p:sp>
        <p:nvSpPr>
          <p:cNvPr id="89" name="Google Shape;89;p14"/>
          <p:cNvSpPr txBox="1"/>
          <p:nvPr/>
        </p:nvSpPr>
        <p:spPr>
          <a:xfrm>
            <a:off x="762000" y="4958655"/>
            <a:ext cx="10715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Evaluating UI Performance, Client Engagement, and Commercial Viability</a:t>
            </a:r>
            <a:endParaRPr/>
          </a:p>
        </p:txBody>
      </p:sp>
      <p:sp>
        <p:nvSpPr>
          <p:cNvPr id="90" name="Google Shape;90;p14"/>
          <p:cNvSpPr txBox="1"/>
          <p:nvPr/>
        </p:nvSpPr>
        <p:spPr>
          <a:xfrm>
            <a:off x="762000" y="5701605"/>
            <a:ext cx="10715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DATA ANALYTICS TEAM (</a:t>
            </a:r>
            <a:r>
              <a:rPr b="1" lang="en-US" sz="1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Slytherin)</a:t>
            </a:r>
            <a:r>
              <a:rPr b="1"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Stefano Marchiori, Zahid Wahidi, Sofija Sarafejeva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" name="Google Shape;91;p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/>
          <p:nvPr/>
        </p:nvSpPr>
        <p:spPr>
          <a:xfrm>
            <a:off x="5915025" y="2005297"/>
            <a:ext cx="5514900" cy="21963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5915025" y="2005297"/>
            <a:ext cx="57300" cy="2196300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762000" y="609600"/>
            <a:ext cx="11430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E1B32"/>
                </a:solidFill>
                <a:latin typeface="Open Sans"/>
                <a:ea typeface="Open Sans"/>
                <a:cs typeface="Open Sans"/>
                <a:sym typeface="Open Sans"/>
              </a:rPr>
              <a:t>01 / INTRODUCTION</a:t>
            </a:r>
            <a:endParaRPr/>
          </a:p>
        </p:txBody>
      </p:sp>
      <p:sp>
        <p:nvSpPr>
          <p:cNvPr id="99" name="Google Shape;99;p15"/>
          <p:cNvSpPr txBox="1"/>
          <p:nvPr/>
        </p:nvSpPr>
        <p:spPr>
          <a:xfrm>
            <a:off x="762000" y="942975"/>
            <a:ext cx="1143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The Digital Challenge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762000" y="1798575"/>
            <a:ext cx="5963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9E1B32"/>
                </a:solidFill>
                <a:latin typeface="Montserrat"/>
                <a:ea typeface="Montserrat"/>
                <a:cs typeface="Montserrat"/>
                <a:sym typeface="Montserrat"/>
              </a:rPr>
              <a:t>Business Context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762000" y="2351025"/>
            <a:ext cx="4638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Vanguard aims to provide a seamless, plain-talk digital experience. A modernized onboarding workflow was developed to reduce friction.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762000" y="3494025"/>
            <a:ext cx="4638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The design was tested against this new interface to validate performance and client adoption.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6217325" y="2268785"/>
            <a:ext cx="5762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The Core Question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353200" y="2692347"/>
            <a:ext cx="4638600" cy="13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9E1B32"/>
                </a:solidFill>
                <a:latin typeface="Open Sans"/>
                <a:ea typeface="Open Sans"/>
                <a:cs typeface="Open Sans"/>
                <a:sym typeface="Open Sans"/>
              </a:rPr>
              <a:t>Did the new UI lead to higher workflow completion rates?</a:t>
            </a:r>
            <a:endParaRPr b="1" i="0" sz="2400" u="none" cap="none" strike="noStrike">
              <a:solidFill>
                <a:srgbClr val="9E1B3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9E1B32"/>
                </a:solidFill>
                <a:latin typeface="Open Sans"/>
                <a:ea typeface="Open Sans"/>
                <a:cs typeface="Open Sans"/>
                <a:sym typeface="Open Sans"/>
              </a:rPr>
              <a:t>threshold: 5% increase</a:t>
            </a:r>
            <a:endParaRPr sz="1700">
              <a:solidFill>
                <a:srgbClr val="9E1B3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762000" y="5384549"/>
            <a:ext cx="1702800" cy="640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9E1B32"/>
                </a:solidFill>
                <a:latin typeface="Open Sans"/>
                <a:ea typeface="Open Sans"/>
                <a:cs typeface="Open Sans"/>
                <a:sym typeface="Open Sans"/>
              </a:rPr>
              <a:t>Start</a:t>
            </a:r>
            <a:endParaRPr b="1" i="0" sz="2400">
              <a:solidFill>
                <a:srgbClr val="9E1B3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2922003" y="5384549"/>
            <a:ext cx="1702800" cy="640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9E1B32"/>
                </a:solidFill>
                <a:latin typeface="Open Sans"/>
                <a:ea typeface="Open Sans"/>
                <a:cs typeface="Open Sans"/>
                <a:sym typeface="Open Sans"/>
              </a:rPr>
              <a:t>Step 1</a:t>
            </a:r>
            <a:endParaRPr b="1" i="0" sz="2400">
              <a:solidFill>
                <a:srgbClr val="9E1B3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7242010" y="5384549"/>
            <a:ext cx="1702800" cy="640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9E1B32"/>
                </a:solidFill>
                <a:latin typeface="Open Sans"/>
                <a:ea typeface="Open Sans"/>
                <a:cs typeface="Open Sans"/>
                <a:sym typeface="Open Sans"/>
              </a:rPr>
              <a:t>Step 3</a:t>
            </a:r>
            <a:endParaRPr b="1" i="0" sz="2400">
              <a:solidFill>
                <a:srgbClr val="9E1B3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9402013" y="5384549"/>
            <a:ext cx="1702800" cy="640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9E1B32"/>
                </a:solidFill>
                <a:latin typeface="Open Sans"/>
                <a:ea typeface="Open Sans"/>
                <a:cs typeface="Open Sans"/>
                <a:sym typeface="Open Sans"/>
              </a:rPr>
              <a:t>Confirm</a:t>
            </a:r>
            <a:endParaRPr b="1" i="0" sz="2400">
              <a:solidFill>
                <a:srgbClr val="9E1B3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9" name="Google Shape;109;p15"/>
          <p:cNvCxnSpPr>
            <a:stCxn id="105" idx="3"/>
            <a:endCxn id="106" idx="1"/>
          </p:cNvCxnSpPr>
          <p:nvPr/>
        </p:nvCxnSpPr>
        <p:spPr>
          <a:xfrm>
            <a:off x="2464800" y="5704949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" name="Google Shape;110;p15"/>
          <p:cNvSpPr/>
          <p:nvPr/>
        </p:nvSpPr>
        <p:spPr>
          <a:xfrm>
            <a:off x="5082007" y="5384549"/>
            <a:ext cx="1702800" cy="6408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9E1B32"/>
                </a:solidFill>
                <a:latin typeface="Open Sans"/>
                <a:ea typeface="Open Sans"/>
                <a:cs typeface="Open Sans"/>
                <a:sym typeface="Open Sans"/>
              </a:rPr>
              <a:t>Step 2</a:t>
            </a:r>
            <a:endParaRPr b="1" i="0" sz="2400">
              <a:solidFill>
                <a:srgbClr val="9E1B3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11" name="Google Shape;111;p15"/>
          <p:cNvCxnSpPr>
            <a:stCxn id="110" idx="3"/>
            <a:endCxn id="107" idx="1"/>
          </p:cNvCxnSpPr>
          <p:nvPr/>
        </p:nvCxnSpPr>
        <p:spPr>
          <a:xfrm>
            <a:off x="6784807" y="5704949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" name="Google Shape;112;p15"/>
          <p:cNvCxnSpPr>
            <a:stCxn id="107" idx="3"/>
            <a:endCxn id="108" idx="1"/>
          </p:cNvCxnSpPr>
          <p:nvPr/>
        </p:nvCxnSpPr>
        <p:spPr>
          <a:xfrm>
            <a:off x="8944810" y="5704949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" name="Google Shape;113;p15"/>
          <p:cNvCxnSpPr>
            <a:stCxn id="106" idx="3"/>
            <a:endCxn id="110" idx="1"/>
          </p:cNvCxnSpPr>
          <p:nvPr/>
        </p:nvCxnSpPr>
        <p:spPr>
          <a:xfrm>
            <a:off x="4624803" y="5704949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" name="Google Shape;114;p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/>
          <p:nvPr/>
        </p:nvSpPr>
        <p:spPr>
          <a:xfrm>
            <a:off x="380975" y="1859100"/>
            <a:ext cx="3592200" cy="34005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68800" lIns="137650" spcFirstLastPara="1" rIns="137650" wrap="square" tIns="68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4299898" y="1859100"/>
            <a:ext cx="3592200" cy="34005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68800" lIns="137650" spcFirstLastPara="1" rIns="137650" wrap="square" tIns="68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8218821" y="1859100"/>
            <a:ext cx="3592200" cy="34005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68800" lIns="137650" spcFirstLastPara="1" rIns="137650" wrap="square" tIns="68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380975" y="5624150"/>
            <a:ext cx="11430000" cy="45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68800" lIns="137650" spcFirstLastPara="1" rIns="137650" wrap="square" tIns="68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380975" y="2308081"/>
            <a:ext cx="35922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4">
                <a:solidFill>
                  <a:srgbClr val="9E1B32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calendar_today</a:t>
            </a:r>
            <a:endParaRPr sz="3914">
              <a:solidFill>
                <a:srgbClr val="9E1B32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4299898" y="2308081"/>
            <a:ext cx="35922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4">
                <a:solidFill>
                  <a:srgbClr val="9E1B32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groups</a:t>
            </a:r>
            <a:endParaRPr sz="3914">
              <a:solidFill>
                <a:srgbClr val="9E1B32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8218821" y="2308081"/>
            <a:ext cx="35922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4">
                <a:solidFill>
                  <a:srgbClr val="9E1B32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pie_chart</a:t>
            </a:r>
            <a:endParaRPr sz="3914">
              <a:solidFill>
                <a:srgbClr val="9E1B32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762000" y="609600"/>
            <a:ext cx="11430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E1B32"/>
                </a:solidFill>
                <a:latin typeface="Open Sans"/>
                <a:ea typeface="Open Sans"/>
                <a:cs typeface="Open Sans"/>
                <a:sym typeface="Open Sans"/>
              </a:rPr>
              <a:t>02 / DATA ARCHITECTURE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762000" y="942975"/>
            <a:ext cx="1143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Datasets &amp; Preparation Process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380975" y="3117084"/>
            <a:ext cx="3592200" cy="433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15">
                <a:solidFill>
                  <a:srgbClr val="9E1B32"/>
                </a:solidFill>
                <a:latin typeface="Montserrat"/>
                <a:ea typeface="Montserrat"/>
                <a:cs typeface="Montserrat"/>
                <a:sym typeface="Montserrat"/>
              </a:rPr>
              <a:t>14 Weeks</a:t>
            </a:r>
            <a:endParaRPr b="1" sz="2815">
              <a:solidFill>
                <a:srgbClr val="9E1B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380975" y="3925789"/>
            <a:ext cx="3592200" cy="567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6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Timeframe</a:t>
            </a:r>
            <a:endParaRPr b="1" sz="1656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452"/>
              </a:spcBef>
              <a:spcAft>
                <a:spcPts val="0"/>
              </a:spcAft>
              <a:buNone/>
            </a:pPr>
            <a:r>
              <a:rPr lang="en-US" sz="1656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March 15 – June 20, 2017</a:t>
            </a:r>
            <a:endParaRPr sz="1656">
              <a:solidFill>
                <a:srgbClr val="55555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4299898" y="3117084"/>
            <a:ext cx="3592200" cy="433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15">
                <a:solidFill>
                  <a:srgbClr val="9E1B32"/>
                </a:solidFill>
                <a:latin typeface="Montserrat"/>
                <a:ea typeface="Montserrat"/>
                <a:cs typeface="Montserrat"/>
                <a:sym typeface="Montserrat"/>
              </a:rPr>
              <a:t>135,000+</a:t>
            </a:r>
            <a:endParaRPr b="1" sz="2815">
              <a:solidFill>
                <a:srgbClr val="9E1B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4299898" y="3925789"/>
            <a:ext cx="3592200" cy="567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6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Total Traffic</a:t>
            </a:r>
            <a:endParaRPr b="1" sz="1656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452"/>
              </a:spcBef>
              <a:spcAft>
                <a:spcPts val="0"/>
              </a:spcAft>
              <a:buNone/>
            </a:pPr>
            <a:r>
              <a:rPr lang="en-US" sz="1656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Total client visits</a:t>
            </a:r>
            <a:endParaRPr sz="1656">
              <a:solidFill>
                <a:srgbClr val="55555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8218821" y="3117084"/>
            <a:ext cx="3592200" cy="46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11">
                <a:solidFill>
                  <a:srgbClr val="9E1B32"/>
                </a:solidFill>
                <a:latin typeface="Montserrat"/>
                <a:ea typeface="Montserrat"/>
                <a:cs typeface="Montserrat"/>
                <a:sym typeface="Montserrat"/>
              </a:rPr>
              <a:t>53.4% / 46.6%</a:t>
            </a:r>
            <a:endParaRPr b="1" sz="3011">
              <a:solidFill>
                <a:srgbClr val="9E1B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8218821" y="3925789"/>
            <a:ext cx="3592200" cy="567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6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Group Split</a:t>
            </a:r>
            <a:endParaRPr b="1" sz="1656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452"/>
              </a:spcBef>
              <a:spcAft>
                <a:spcPts val="0"/>
              </a:spcAft>
              <a:buNone/>
            </a:pPr>
            <a:r>
              <a:rPr lang="en-US" sz="1656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Test: ~30.1k vs. Control: ~26.2k</a:t>
            </a:r>
            <a:endParaRPr sz="1656">
              <a:solidFill>
                <a:srgbClr val="55555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16"/>
          <p:cNvSpPr txBox="1"/>
          <p:nvPr>
            <p:ph idx="12" type="sldNum"/>
          </p:nvPr>
        </p:nvSpPr>
        <p:spPr>
          <a:xfrm>
            <a:off x="6569150" y="604302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-1865825" y="-543825"/>
            <a:ext cx="804300" cy="8043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477825" y="2489125"/>
            <a:ext cx="804300" cy="8043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/>
          <p:nvPr/>
        </p:nvSpPr>
        <p:spPr>
          <a:xfrm>
            <a:off x="611625" y="502325"/>
            <a:ext cx="3048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9B2943"/>
                </a:solidFill>
              </a:rPr>
              <a:t>03 / EXPLORATORY DATA ANALYSIS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611625" y="816650"/>
            <a:ext cx="7620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323232"/>
                </a:solidFill>
              </a:rPr>
              <a:t>Client Profile Across the Experiment</a:t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611625" y="1740575"/>
            <a:ext cx="3257700" cy="38100"/>
          </a:xfrm>
          <a:prstGeom prst="rect">
            <a:avLst/>
          </a:prstGeom>
          <a:solidFill>
            <a:srgbClr val="9B2943"/>
          </a:solidFill>
          <a:ln cap="flat" cmpd="sng" w="9525">
            <a:solidFill>
              <a:srgbClr val="9B29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611625" y="2026325"/>
            <a:ext cx="3257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54052"/>
                </a:solidFill>
              </a:rPr>
              <a:t>Client Age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611625" y="2397800"/>
            <a:ext cx="325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323232"/>
                </a:solidFill>
              </a:rPr>
              <a:t>Age distribution across Test and Control clients.</a:t>
            </a:r>
            <a:endParaRPr/>
          </a:p>
        </p:txBody>
      </p:sp>
      <p:pic>
        <p:nvPicPr>
          <p:cNvPr id="147" name="Google Shape;147;p17" title="client_age_distribu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625" y="3159174"/>
            <a:ext cx="3525576" cy="2096754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/>
          <p:nvPr/>
        </p:nvSpPr>
        <p:spPr>
          <a:xfrm>
            <a:off x="4221600" y="1740575"/>
            <a:ext cx="3257700" cy="38100"/>
          </a:xfrm>
          <a:prstGeom prst="rect">
            <a:avLst/>
          </a:prstGeom>
          <a:solidFill>
            <a:srgbClr val="9B2943"/>
          </a:solidFill>
          <a:ln cap="flat" cmpd="sng" w="9525">
            <a:solidFill>
              <a:srgbClr val="9B29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4221600" y="2026325"/>
            <a:ext cx="3257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54052"/>
                </a:solidFill>
              </a:rPr>
              <a:t>Client Tenure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4221600" y="2397800"/>
            <a:ext cx="325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323232"/>
                </a:solidFill>
              </a:rPr>
              <a:t>Relationship duration across Test and Control clients.</a:t>
            </a:r>
            <a:endParaRPr/>
          </a:p>
        </p:txBody>
      </p:sp>
      <p:pic>
        <p:nvPicPr>
          <p:cNvPr id="151" name="Google Shape;151;p17" title="client_tenure_distribu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1600" y="3238875"/>
            <a:ext cx="3257549" cy="193735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/>
          <p:nvPr/>
        </p:nvSpPr>
        <p:spPr>
          <a:xfrm>
            <a:off x="7831575" y="1740575"/>
            <a:ext cx="3257700" cy="38100"/>
          </a:xfrm>
          <a:prstGeom prst="rect">
            <a:avLst/>
          </a:prstGeom>
          <a:solidFill>
            <a:srgbClr val="9B2943"/>
          </a:solidFill>
          <a:ln cap="flat" cmpd="sng" w="9525">
            <a:solidFill>
              <a:srgbClr val="9B29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7831575" y="2026325"/>
            <a:ext cx="3257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54052"/>
                </a:solidFill>
              </a:rPr>
              <a:t>Balance Tier Mix</a:t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7831575" y="2397800"/>
            <a:ext cx="325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323232"/>
                </a:solidFill>
              </a:rPr>
              <a:t>Client distribution across Vanguard balance tiers.</a:t>
            </a:r>
            <a:endParaRPr/>
          </a:p>
        </p:txBody>
      </p:sp>
      <p:pic>
        <p:nvPicPr>
          <p:cNvPr id="155" name="Google Shape;155;p17" title="balance_tier_mix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31575" y="3238875"/>
            <a:ext cx="3257549" cy="1937351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/>
          <p:nvPr/>
        </p:nvSpPr>
        <p:spPr>
          <a:xfrm>
            <a:off x="611625" y="6369725"/>
            <a:ext cx="28575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">
                <a:solidFill>
                  <a:srgbClr val="777777"/>
                </a:solidFill>
              </a:rPr>
              <a:t>Source: client profile dataset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8765025" y="6369725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>
                <a:solidFill>
                  <a:srgbClr val="666666"/>
                </a:solidFill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/>
          <p:nvPr/>
        </p:nvSpPr>
        <p:spPr>
          <a:xfrm>
            <a:off x="762000" y="5534025"/>
            <a:ext cx="10668000" cy="714375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762000" y="1866900"/>
            <a:ext cx="4476900" cy="15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6091237" y="1866900"/>
            <a:ext cx="9525" cy="1533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762000" y="609600"/>
            <a:ext cx="11430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E1B32"/>
                </a:solidFill>
                <a:latin typeface="Open Sans"/>
                <a:ea typeface="Open Sans"/>
                <a:cs typeface="Open Sans"/>
                <a:sym typeface="Open Sans"/>
              </a:rPr>
              <a:t>04 / PERFORMANCE METRICS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762000" y="942975"/>
            <a:ext cx="1143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Control vs. Test</a:t>
            </a:r>
            <a:r>
              <a:rPr b="1" lang="en-US" sz="30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-US" sz="30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Completion</a:t>
            </a:r>
            <a:r>
              <a:rPr b="1" lang="en-US" sz="30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Rate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917200" y="5776250"/>
            <a:ext cx="10433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This significant lift in completion rates was achieved while adding only 5 seconds to the median visit duration.</a:t>
            </a:r>
            <a:endParaRPr sz="1300"/>
          </a:p>
        </p:txBody>
      </p:sp>
      <p:sp>
        <p:nvSpPr>
          <p:cNvPr id="168" name="Google Shape;168;p18"/>
          <p:cNvSpPr txBox="1"/>
          <p:nvPr/>
        </p:nvSpPr>
        <p:spPr>
          <a:xfrm>
            <a:off x="762000" y="1866900"/>
            <a:ext cx="460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TEST COMPLETION RATE </a:t>
            </a:r>
            <a:r>
              <a:rPr b="1" lang="en-US" sz="1200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BASED ON CLIENT ID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762000" y="2228850"/>
            <a:ext cx="2449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69.3%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762000" y="3143250"/>
            <a:ext cx="2550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90000"/>
                </a:solidFill>
                <a:latin typeface="Open Sans"/>
                <a:ea typeface="Open Sans"/>
                <a:cs typeface="Open Sans"/>
                <a:sym typeface="Open Sans"/>
              </a:rPr>
              <a:t>+3.7% vs. Control </a:t>
            </a:r>
            <a:r>
              <a:rPr b="1" lang="en-US" sz="1500">
                <a:solidFill>
                  <a:srgbClr val="990000"/>
                </a:solidFill>
                <a:latin typeface="Open Sans"/>
                <a:ea typeface="Open Sans"/>
                <a:cs typeface="Open Sans"/>
                <a:sym typeface="Open Sans"/>
              </a:rPr>
              <a:t>group</a:t>
            </a:r>
            <a:endParaRPr>
              <a:solidFill>
                <a:srgbClr val="990000"/>
              </a:solidFill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6352600" y="1866925"/>
            <a:ext cx="378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HIGHEST </a:t>
            </a:r>
            <a:r>
              <a:rPr b="1" lang="en-US" sz="1200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TEST </a:t>
            </a:r>
            <a:r>
              <a:rPr b="1" lang="en-US" sz="1200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COMPLETION RATE: DIAMOND TIER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6405556" y="2228850"/>
            <a:ext cx="2782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63.3</a:t>
            </a:r>
            <a:r>
              <a:rPr b="1" i="0" lang="en-US" sz="6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%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6379156" y="3128063"/>
            <a:ext cx="2676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5803D"/>
                </a:solidFill>
                <a:latin typeface="Open Sans"/>
                <a:ea typeface="Open Sans"/>
                <a:cs typeface="Open Sans"/>
                <a:sym typeface="Open Sans"/>
              </a:rPr>
              <a:t>+15.3</a:t>
            </a:r>
            <a:r>
              <a:rPr b="1" i="0" lang="en-US" sz="1500" u="none" cap="none" strike="noStrike">
                <a:solidFill>
                  <a:srgbClr val="15803D"/>
                </a:solidFill>
                <a:latin typeface="Open Sans"/>
                <a:ea typeface="Open Sans"/>
                <a:cs typeface="Open Sans"/>
                <a:sym typeface="Open Sans"/>
              </a:rPr>
              <a:t>% vs. Control </a:t>
            </a:r>
            <a:r>
              <a:rPr b="1" lang="en-US" sz="1500">
                <a:solidFill>
                  <a:srgbClr val="15803D"/>
                </a:solidFill>
                <a:latin typeface="Open Sans"/>
                <a:ea typeface="Open Sans"/>
                <a:cs typeface="Open Sans"/>
                <a:sym typeface="Open Sans"/>
              </a:rPr>
              <a:t>group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762000" y="3700475"/>
            <a:ext cx="437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TEST COMPLETION RATE </a:t>
            </a:r>
            <a:r>
              <a:rPr b="1" lang="en-US" sz="1200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BASED ON VISIT ID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762000" y="4002550"/>
            <a:ext cx="2449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58.6</a:t>
            </a:r>
            <a:r>
              <a:rPr b="1" i="0" lang="en-US" sz="60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%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762000" y="5043225"/>
            <a:ext cx="2866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5803D"/>
                </a:solidFill>
                <a:latin typeface="Open Sans"/>
                <a:ea typeface="Open Sans"/>
                <a:cs typeface="Open Sans"/>
                <a:sym typeface="Open Sans"/>
              </a:rPr>
              <a:t>+</a:t>
            </a:r>
            <a:r>
              <a:rPr b="1" lang="en-US" sz="1500">
                <a:solidFill>
                  <a:srgbClr val="15803D"/>
                </a:solidFill>
                <a:latin typeface="Open Sans"/>
                <a:ea typeface="Open Sans"/>
                <a:cs typeface="Open Sans"/>
                <a:sym typeface="Open Sans"/>
              </a:rPr>
              <a:t>8.7</a:t>
            </a:r>
            <a:r>
              <a:rPr b="1" i="0" lang="en-US" sz="1500" u="none" cap="none" strike="noStrike">
                <a:solidFill>
                  <a:srgbClr val="15803D"/>
                </a:solidFill>
                <a:latin typeface="Open Sans"/>
                <a:ea typeface="Open Sans"/>
                <a:cs typeface="Open Sans"/>
                <a:sym typeface="Open Sans"/>
              </a:rPr>
              <a:t>% vs. Control </a:t>
            </a:r>
            <a:r>
              <a:rPr b="1" lang="en-US" sz="1500">
                <a:solidFill>
                  <a:srgbClr val="15803D"/>
                </a:solidFill>
                <a:latin typeface="Open Sans"/>
                <a:ea typeface="Open Sans"/>
                <a:cs typeface="Open Sans"/>
                <a:sym typeface="Open Sans"/>
              </a:rPr>
              <a:t>group</a:t>
            </a:r>
            <a:endParaRPr>
              <a:solidFill>
                <a:srgbClr val="15803D"/>
              </a:solidFill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6352600" y="3700475"/>
            <a:ext cx="385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200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TEST COMPLETION RATE: PLATINUM TIER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55555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6352606" y="4033225"/>
            <a:ext cx="2782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57.9%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6405556" y="4956625"/>
            <a:ext cx="2676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500">
                <a:solidFill>
                  <a:srgbClr val="15803D"/>
                </a:solidFill>
                <a:latin typeface="Open Sans"/>
                <a:ea typeface="Open Sans"/>
                <a:cs typeface="Open Sans"/>
                <a:sym typeface="Open Sans"/>
              </a:rPr>
              <a:t>+10.2% vs. Control group</a:t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6081637" y="3801638"/>
            <a:ext cx="9600" cy="1533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19"/>
          <p:cNvGrpSpPr/>
          <p:nvPr/>
        </p:nvGrpSpPr>
        <p:grpSpPr>
          <a:xfrm>
            <a:off x="762000" y="1714500"/>
            <a:ext cx="5048400" cy="4476900"/>
            <a:chOff x="0" y="0"/>
            <a:chExt cx="5048400" cy="4476900"/>
          </a:xfrm>
        </p:grpSpPr>
        <p:sp>
          <p:nvSpPr>
            <p:cNvPr id="187" name="Google Shape;187;p19"/>
            <p:cNvSpPr/>
            <p:nvPr/>
          </p:nvSpPr>
          <p:spPr>
            <a:xfrm>
              <a:off x="0" y="0"/>
              <a:ext cx="5048400" cy="4476900"/>
            </a:xfrm>
            <a:prstGeom prst="roundRect">
              <a:avLst>
                <a:gd fmla="val 170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9"/>
            <p:cNvSpPr/>
            <p:nvPr/>
          </p:nvSpPr>
          <p:spPr>
            <a:xfrm>
              <a:off x="0" y="0"/>
              <a:ext cx="5048400" cy="47700"/>
            </a:xfrm>
            <a:prstGeom prst="roundRect">
              <a:avLst>
                <a:gd fmla="val 40000" name="adj"/>
              </a:avLst>
            </a:prstGeom>
            <a:solidFill>
              <a:srgbClr val="9E1B3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9"/>
            <p:cNvSpPr txBox="1"/>
            <p:nvPr/>
          </p:nvSpPr>
          <p:spPr>
            <a:xfrm>
              <a:off x="285750" y="238125"/>
              <a:ext cx="44769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E293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OVERALL </a:t>
              </a:r>
              <a:r>
                <a:rPr b="1" lang="en-US" sz="1600">
                  <a:solidFill>
                    <a:srgbClr val="1E293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COMPLETION RATE</a:t>
              </a:r>
              <a:endParaRPr b="0" sz="1100">
                <a:solidFill>
                  <a:srgbClr val="64748B"/>
                </a:solidFill>
                <a:latin typeface="Open Sans SemiBold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190" name="Google Shape;190;p19"/>
            <p:cNvSpPr/>
            <p:nvPr/>
          </p:nvSpPr>
          <p:spPr>
            <a:xfrm>
              <a:off x="285750" y="809625"/>
              <a:ext cx="4476900" cy="714300"/>
            </a:xfrm>
            <a:prstGeom prst="roundRect">
              <a:avLst>
                <a:gd fmla="val 80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9"/>
            <p:cNvSpPr txBox="1"/>
            <p:nvPr/>
          </p:nvSpPr>
          <p:spPr>
            <a:xfrm>
              <a:off x="428625" y="904875"/>
              <a:ext cx="4191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H0: Test Completion Rate </a:t>
              </a:r>
              <a:r>
                <a:rPr lang="en-US" sz="10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≤</a:t>
              </a:r>
              <a:r>
                <a:rPr lang="en-US" sz="10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 Control </a:t>
              </a:r>
              <a:r>
                <a:rPr lang="en-US" sz="10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Completion Rate </a:t>
              </a:r>
              <a:endParaRPr sz="10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H1: </a:t>
              </a:r>
              <a:r>
                <a:rPr lang="en-US" sz="10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Test Completion Rate &gt; Control Completion Rate</a:t>
              </a:r>
              <a:r>
                <a:rPr lang="en-US" sz="105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endParaRPr sz="10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2" name="Google Shape;192;p19"/>
            <p:cNvSpPr/>
            <p:nvPr/>
          </p:nvSpPr>
          <p:spPr>
            <a:xfrm>
              <a:off x="285750" y="1666875"/>
              <a:ext cx="4476900" cy="1190700"/>
            </a:xfrm>
            <a:prstGeom prst="roundRect">
              <a:avLst>
                <a:gd fmla="val 4799" name="adj"/>
              </a:avLst>
            </a:prstGeom>
            <a:solidFill>
              <a:srgbClr val="F0FDF4"/>
            </a:solidFill>
            <a:ln cap="flat" cmpd="sng" w="9525">
              <a:solidFill>
                <a:srgbClr val="86EFA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9"/>
            <p:cNvSpPr txBox="1"/>
            <p:nvPr/>
          </p:nvSpPr>
          <p:spPr>
            <a:xfrm>
              <a:off x="476250" y="1809750"/>
              <a:ext cx="4095900" cy="904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800">
                  <a:solidFill>
                    <a:srgbClr val="15803D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p &lt; 0.05</a:t>
              </a:r>
              <a:endParaRPr b="0" i="0" sz="3800">
                <a:solidFill>
                  <a:srgbClr val="15803D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50">
                  <a:solidFill>
                    <a:srgbClr val="FFFFFF"/>
                  </a:solidFill>
                  <a:highlight>
                    <a:srgbClr val="15803D"/>
                  </a:highlight>
                  <a:latin typeface="Montserrat"/>
                  <a:ea typeface="Montserrat"/>
                  <a:cs typeface="Montserrat"/>
                  <a:sym typeface="Montserrat"/>
                </a:rPr>
                <a:t>REJECT NULL HYPOTHESIS</a:t>
              </a:r>
              <a:endParaRPr b="0" i="0" sz="1050">
                <a:solidFill>
                  <a:srgbClr val="15803D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</p:txBody>
        </p:sp>
        <p:sp>
          <p:nvSpPr>
            <p:cNvPr id="194" name="Google Shape;194;p19"/>
            <p:cNvSpPr txBox="1"/>
            <p:nvPr/>
          </p:nvSpPr>
          <p:spPr>
            <a:xfrm>
              <a:off x="285750" y="3048000"/>
              <a:ext cx="4476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64748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Key Takeaway</a:t>
              </a:r>
              <a:endParaRPr b="1" sz="100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The new design significantly increased completion rates, successfully passing the 5% business growth target.</a:t>
              </a:r>
              <a:endParaRPr sz="125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5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p_value = </a:t>
              </a:r>
              <a:r>
                <a:rPr b="1" lang="en-US" sz="1000">
                  <a:solidFill>
                    <a:schemeClr val="dk1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2.0554e-116</a:t>
              </a:r>
              <a:endParaRPr b="1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5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95" name="Google Shape;195;p19"/>
          <p:cNvGrpSpPr/>
          <p:nvPr/>
        </p:nvGrpSpPr>
        <p:grpSpPr>
          <a:xfrm>
            <a:off x="6381750" y="1714500"/>
            <a:ext cx="5048400" cy="4476900"/>
            <a:chOff x="0" y="0"/>
            <a:chExt cx="5048400" cy="4476900"/>
          </a:xfrm>
        </p:grpSpPr>
        <p:sp>
          <p:nvSpPr>
            <p:cNvPr id="196" name="Google Shape;196;p19"/>
            <p:cNvSpPr/>
            <p:nvPr/>
          </p:nvSpPr>
          <p:spPr>
            <a:xfrm>
              <a:off x="0" y="0"/>
              <a:ext cx="5048400" cy="4476900"/>
            </a:xfrm>
            <a:prstGeom prst="roundRect">
              <a:avLst>
                <a:gd fmla="val 170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9"/>
            <p:cNvSpPr/>
            <p:nvPr/>
          </p:nvSpPr>
          <p:spPr>
            <a:xfrm>
              <a:off x="0" y="0"/>
              <a:ext cx="5048400" cy="47700"/>
            </a:xfrm>
            <a:prstGeom prst="roundRect">
              <a:avLst>
                <a:gd fmla="val 40000" name="adj"/>
              </a:avLst>
            </a:prstGeom>
            <a:solidFill>
              <a:srgbClr val="9E1B3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9"/>
            <p:cNvSpPr txBox="1"/>
            <p:nvPr/>
          </p:nvSpPr>
          <p:spPr>
            <a:xfrm>
              <a:off x="285750" y="238125"/>
              <a:ext cx="44769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E293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DIAMOND COMPLETION RATE</a:t>
              </a:r>
              <a:endParaRPr b="0" sz="1100">
                <a:solidFill>
                  <a:srgbClr val="64748B"/>
                </a:solidFill>
                <a:latin typeface="Open Sans SemiBold"/>
                <a:ea typeface="Open Sans SemiBold"/>
                <a:cs typeface="Open Sans SemiBold"/>
                <a:sym typeface="Open Sans SemiBold"/>
              </a:endParaRPr>
            </a:p>
          </p:txBody>
        </p:sp>
        <p:sp>
          <p:nvSpPr>
            <p:cNvPr id="199" name="Google Shape;199;p19"/>
            <p:cNvSpPr/>
            <p:nvPr/>
          </p:nvSpPr>
          <p:spPr>
            <a:xfrm>
              <a:off x="285750" y="809625"/>
              <a:ext cx="4476900" cy="714300"/>
            </a:xfrm>
            <a:prstGeom prst="roundRect">
              <a:avLst>
                <a:gd fmla="val 80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9"/>
            <p:cNvSpPr txBox="1"/>
            <p:nvPr/>
          </p:nvSpPr>
          <p:spPr>
            <a:xfrm>
              <a:off x="364500" y="833550"/>
              <a:ext cx="4683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H0: Diamond Test Completion Rate ≤ </a:t>
              </a:r>
              <a:r>
                <a:rPr lang="en-US" sz="10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Diamond Control Completion Rate</a:t>
              </a:r>
              <a:endParaRPr sz="10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H1: </a:t>
              </a:r>
              <a:r>
                <a:rPr lang="en-US" sz="10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Diamond Test Completion Rate</a:t>
              </a:r>
              <a:r>
                <a:rPr lang="en-US" sz="10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&gt; </a:t>
              </a:r>
              <a:r>
                <a:rPr lang="en-US" sz="10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Diamond Control Completion Rate</a:t>
              </a:r>
              <a:endParaRPr sz="10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1" name="Google Shape;201;p19"/>
            <p:cNvSpPr/>
            <p:nvPr/>
          </p:nvSpPr>
          <p:spPr>
            <a:xfrm>
              <a:off x="285750" y="1666875"/>
              <a:ext cx="4476900" cy="1190700"/>
            </a:xfrm>
            <a:prstGeom prst="roundRect">
              <a:avLst>
                <a:gd fmla="val 4799" name="adj"/>
              </a:avLst>
            </a:prstGeom>
            <a:solidFill>
              <a:srgbClr val="F0FDF4"/>
            </a:solidFill>
            <a:ln cap="flat" cmpd="sng" w="9525">
              <a:solidFill>
                <a:srgbClr val="86EFA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9"/>
            <p:cNvSpPr txBox="1"/>
            <p:nvPr/>
          </p:nvSpPr>
          <p:spPr>
            <a:xfrm>
              <a:off x="476250" y="1809750"/>
              <a:ext cx="4095900" cy="904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800">
                  <a:solidFill>
                    <a:srgbClr val="15803D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p &lt; 0.05</a:t>
              </a:r>
              <a:endParaRPr b="0" i="0" sz="3800">
                <a:solidFill>
                  <a:srgbClr val="15803D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50">
                  <a:solidFill>
                    <a:srgbClr val="FFFFFF"/>
                  </a:solidFill>
                  <a:highlight>
                    <a:srgbClr val="15803D"/>
                  </a:highlight>
                  <a:latin typeface="Montserrat"/>
                  <a:ea typeface="Montserrat"/>
                  <a:cs typeface="Montserrat"/>
                  <a:sym typeface="Montserrat"/>
                </a:rPr>
                <a:t>REJECT NULL HYPOTHESIS</a:t>
              </a:r>
              <a:endParaRPr b="0" i="0" sz="1050">
                <a:solidFill>
                  <a:srgbClr val="15803D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</p:txBody>
        </p:sp>
        <p:sp>
          <p:nvSpPr>
            <p:cNvPr id="203" name="Google Shape;203;p19"/>
            <p:cNvSpPr txBox="1"/>
            <p:nvPr/>
          </p:nvSpPr>
          <p:spPr>
            <a:xfrm>
              <a:off x="285750" y="3048000"/>
              <a:ext cx="4476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64748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Key Takeaway</a:t>
              </a:r>
              <a:endParaRPr b="1" sz="100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High-value clients also saw a confirmed completion lift.</a:t>
              </a:r>
              <a:endParaRPr sz="125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5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p_value = </a:t>
              </a:r>
              <a:r>
                <a:rPr b="1" lang="en-US" sz="1000">
                  <a:solidFill>
                    <a:schemeClr val="dk1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1.3310226108574474e-08</a:t>
              </a:r>
              <a:endParaRPr b="1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endParaRPr sz="125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04" name="Google Shape;204;p19"/>
          <p:cNvSpPr txBox="1"/>
          <p:nvPr/>
        </p:nvSpPr>
        <p:spPr>
          <a:xfrm>
            <a:off x="762000" y="609600"/>
            <a:ext cx="11430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E1B32"/>
                </a:solidFill>
                <a:latin typeface="Open Sans"/>
                <a:ea typeface="Open Sans"/>
                <a:cs typeface="Open Sans"/>
                <a:sym typeface="Open Sans"/>
              </a:rPr>
              <a:t>05 / HYPOTHESIS TESTING</a:t>
            </a:r>
            <a:endParaRPr/>
          </a:p>
        </p:txBody>
      </p:sp>
      <p:sp>
        <p:nvSpPr>
          <p:cNvPr id="205" name="Google Shape;205;p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762000" y="942975"/>
            <a:ext cx="1143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Statistical Significance Measure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0"/>
          <p:cNvSpPr/>
          <p:nvPr/>
        </p:nvSpPr>
        <p:spPr>
          <a:xfrm>
            <a:off x="536863" y="945575"/>
            <a:ext cx="3032100" cy="2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500" lIns="97025" spcFirstLastPara="1" rIns="97025" wrap="square" tIns="48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5">
                <a:solidFill>
                  <a:srgbClr val="9B2943"/>
                </a:solidFill>
              </a:rPr>
              <a:t>06 / EXPERIMENT EVALUATION</a:t>
            </a:r>
            <a:endParaRPr sz="1486"/>
          </a:p>
        </p:txBody>
      </p:sp>
      <p:sp>
        <p:nvSpPr>
          <p:cNvPr id="212" name="Google Shape;212;p20"/>
          <p:cNvSpPr/>
          <p:nvPr/>
        </p:nvSpPr>
        <p:spPr>
          <a:xfrm>
            <a:off x="536863" y="1279118"/>
            <a:ext cx="7681500" cy="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8500" lIns="97025" spcFirstLastPara="1" rIns="97025" wrap="square" tIns="48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24">
                <a:solidFill>
                  <a:srgbClr val="323232"/>
                </a:solidFill>
              </a:rPr>
              <a:t>Test Performance: Gains &amp; Friction</a:t>
            </a:r>
            <a:endParaRPr sz="1486"/>
          </a:p>
        </p:txBody>
      </p:sp>
      <p:sp>
        <p:nvSpPr>
          <p:cNvPr id="213" name="Google Shape;213;p20"/>
          <p:cNvSpPr/>
          <p:nvPr/>
        </p:nvSpPr>
        <p:spPr>
          <a:xfrm>
            <a:off x="536863" y="2259533"/>
            <a:ext cx="3456900" cy="40500"/>
          </a:xfrm>
          <a:prstGeom prst="rect">
            <a:avLst/>
          </a:prstGeom>
          <a:solidFill>
            <a:srgbClr val="9B2943"/>
          </a:solidFill>
          <a:ln cap="flat" cmpd="sng" w="10125">
            <a:solidFill>
              <a:srgbClr val="9B29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025" lIns="97025" spcFirstLastPara="1" rIns="97025" wrap="square" tIns="97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536863" y="2562753"/>
            <a:ext cx="34569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8500" lIns="97025" spcFirstLastPara="1" rIns="97025" wrap="square" tIns="48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33">
                <a:solidFill>
                  <a:srgbClr val="354052"/>
                </a:solidFill>
              </a:rPr>
              <a:t>Funnel Progression</a:t>
            </a:r>
            <a:endParaRPr sz="1486"/>
          </a:p>
        </p:txBody>
      </p:sp>
      <p:sp>
        <p:nvSpPr>
          <p:cNvPr id="215" name="Google Shape;215;p20"/>
          <p:cNvSpPr/>
          <p:nvPr/>
        </p:nvSpPr>
        <p:spPr>
          <a:xfrm>
            <a:off x="536863" y="2956941"/>
            <a:ext cx="3456900" cy="4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8500" lIns="97025" spcFirstLastPara="1" rIns="97025" wrap="square" tIns="48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5">
                <a:solidFill>
                  <a:srgbClr val="323232"/>
                </a:solidFill>
              </a:rPr>
              <a:t>The Test reaches every funnel milestone at a higher rate.</a:t>
            </a:r>
            <a:endParaRPr sz="1486"/>
          </a:p>
        </p:txBody>
      </p:sp>
      <p:pic>
        <p:nvPicPr>
          <p:cNvPr id="216" name="Google Shape;21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863" y="3758222"/>
            <a:ext cx="3456718" cy="205630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/>
          <p:nvPr/>
        </p:nvSpPr>
        <p:spPr>
          <a:xfrm>
            <a:off x="4367553" y="2259533"/>
            <a:ext cx="3456900" cy="40500"/>
          </a:xfrm>
          <a:prstGeom prst="rect">
            <a:avLst/>
          </a:prstGeom>
          <a:solidFill>
            <a:srgbClr val="9B2943"/>
          </a:solidFill>
          <a:ln cap="flat" cmpd="sng" w="10125">
            <a:solidFill>
              <a:srgbClr val="9B29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025" lIns="97025" spcFirstLastPara="1" rIns="97025" wrap="square" tIns="97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4367553" y="2562753"/>
            <a:ext cx="34569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8500" lIns="97025" spcFirstLastPara="1" rIns="97025" wrap="square" tIns="48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33">
                <a:solidFill>
                  <a:srgbClr val="354052"/>
                </a:solidFill>
              </a:rPr>
              <a:t>Time per Step</a:t>
            </a:r>
            <a:endParaRPr sz="1486"/>
          </a:p>
        </p:txBody>
      </p:sp>
      <p:sp>
        <p:nvSpPr>
          <p:cNvPr id="219" name="Google Shape;219;p20"/>
          <p:cNvSpPr/>
          <p:nvPr/>
        </p:nvSpPr>
        <p:spPr>
          <a:xfrm>
            <a:off x="4367553" y="2956941"/>
            <a:ext cx="3456900" cy="4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8500" lIns="97025" spcFirstLastPara="1" rIns="97025" wrap="square" tIns="48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5">
                <a:solidFill>
                  <a:srgbClr val="323232"/>
                </a:solidFill>
              </a:rPr>
              <a:t>Time differences vary by step, longer duration does not automatically indicate friction.</a:t>
            </a:r>
            <a:endParaRPr sz="1486"/>
          </a:p>
        </p:txBody>
      </p:sp>
      <p:pic>
        <p:nvPicPr>
          <p:cNvPr id="220" name="Google Shape;22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7553" y="3761417"/>
            <a:ext cx="3456718" cy="2049914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/>
          <p:nvPr/>
        </p:nvSpPr>
        <p:spPr>
          <a:xfrm>
            <a:off x="8198244" y="2259533"/>
            <a:ext cx="3456900" cy="40500"/>
          </a:xfrm>
          <a:prstGeom prst="rect">
            <a:avLst/>
          </a:prstGeom>
          <a:solidFill>
            <a:srgbClr val="9B2943"/>
          </a:solidFill>
          <a:ln cap="flat" cmpd="sng" w="10125">
            <a:solidFill>
              <a:srgbClr val="9B29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025" lIns="97025" spcFirstLastPara="1" rIns="97025" wrap="square" tIns="97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0"/>
          <p:cNvSpPr/>
          <p:nvPr/>
        </p:nvSpPr>
        <p:spPr>
          <a:xfrm>
            <a:off x="8198244" y="2562753"/>
            <a:ext cx="34569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8500" lIns="97025" spcFirstLastPara="1" rIns="97025" wrap="square" tIns="48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33">
                <a:solidFill>
                  <a:srgbClr val="354052"/>
                </a:solidFill>
              </a:rPr>
              <a:t>Direct Backtracking Rate</a:t>
            </a:r>
            <a:endParaRPr sz="1486"/>
          </a:p>
        </p:txBody>
      </p:sp>
      <p:sp>
        <p:nvSpPr>
          <p:cNvPr id="223" name="Google Shape;223;p20"/>
          <p:cNvSpPr/>
          <p:nvPr/>
        </p:nvSpPr>
        <p:spPr>
          <a:xfrm>
            <a:off x="8198244" y="2956941"/>
            <a:ext cx="3456900" cy="4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8500" lIns="97025" spcFirstLastPara="1" rIns="97025" wrap="square" tIns="48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5">
                <a:solidFill>
                  <a:srgbClr val="323232"/>
                </a:solidFill>
              </a:rPr>
              <a:t>Early-stage backtracking is higher in the Test, indicating navigation friction.</a:t>
            </a:r>
            <a:endParaRPr sz="1486"/>
          </a:p>
        </p:txBody>
      </p:sp>
      <p:pic>
        <p:nvPicPr>
          <p:cNvPr id="224" name="Google Shape;22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8244" y="3605301"/>
            <a:ext cx="3456718" cy="2252104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1"/>
          <p:cNvSpPr/>
          <p:nvPr/>
        </p:nvSpPr>
        <p:spPr>
          <a:xfrm>
            <a:off x="762000" y="1866900"/>
            <a:ext cx="3352800" cy="1381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4419600" y="1866900"/>
            <a:ext cx="3352800" cy="1381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8077200" y="1866900"/>
            <a:ext cx="3352800" cy="1381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762000" y="1866900"/>
            <a:ext cx="3352800" cy="38100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4419600" y="1866900"/>
            <a:ext cx="3352800" cy="38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8077200" y="1866900"/>
            <a:ext cx="3352800" cy="38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762000" y="609600"/>
            <a:ext cx="11430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E1B32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  <a:r>
              <a:rPr b="1" lang="en-US" sz="1050">
                <a:solidFill>
                  <a:srgbClr val="9E1B32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  <a:r>
              <a:rPr b="1" i="0" lang="en-US" sz="1050" u="none" cap="none" strike="noStrike">
                <a:solidFill>
                  <a:srgbClr val="9E1B32"/>
                </a:solidFill>
                <a:latin typeface="Open Sans"/>
                <a:ea typeface="Open Sans"/>
                <a:cs typeface="Open Sans"/>
                <a:sym typeface="Open Sans"/>
              </a:rPr>
              <a:t> / EXPERIMENT EVALUATION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762000" y="942975"/>
            <a:ext cx="114300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Design Effectiveness &amp; Biases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762000" y="2133600"/>
            <a:ext cx="44005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Uneven Traffic Split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762000" y="2562225"/>
            <a:ext cx="34480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53.4% Test vs. 46.6% Control distribution. Requires SRM verification for strict validity.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4419600" y="2133600"/>
            <a:ext cx="44005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14-Week Duration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4419600" y="2562225"/>
            <a:ext cx="34480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High statistical power achieved, though timeframe overlapped peak US tax season urgency.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8077200" y="2133600"/>
            <a:ext cx="41148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Missing Telemetry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8077200" y="2562225"/>
            <a:ext cx="34480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Require device categories and form-level error logs to isolate the Step 3 technical cliff.</a:t>
            </a:r>
            <a:endParaRPr/>
          </a:p>
        </p:txBody>
      </p:sp>
      <p:sp>
        <p:nvSpPr>
          <p:cNvPr id="244" name="Google Shape;244;p21"/>
          <p:cNvSpPr/>
          <p:nvPr/>
        </p:nvSpPr>
        <p:spPr>
          <a:xfrm>
            <a:off x="4400550" y="3813325"/>
            <a:ext cx="3448200" cy="13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4419600" y="3775225"/>
            <a:ext cx="3352800" cy="38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4419600" y="4041925"/>
            <a:ext cx="411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Age and speed</a:t>
            </a:r>
            <a:endParaRPr/>
          </a:p>
        </p:txBody>
      </p:sp>
      <p:sp>
        <p:nvSpPr>
          <p:cNvPr id="247" name="Google Shape;247;p21"/>
          <p:cNvSpPr/>
          <p:nvPr/>
        </p:nvSpPr>
        <p:spPr>
          <a:xfrm>
            <a:off x="428625" y="3775225"/>
            <a:ext cx="3352800" cy="13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762000" y="3775225"/>
            <a:ext cx="3352800" cy="38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762000" y="4003350"/>
            <a:ext cx="3178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Visit IDs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714300" y="4470550"/>
            <a:ext cx="3448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Every page refresh ends up in a new visit ID</a:t>
            </a:r>
            <a:endParaRPr/>
          </a:p>
        </p:txBody>
      </p:sp>
      <p:sp>
        <p:nvSpPr>
          <p:cNvPr id="251" name="Google Shape;251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2" name="Google Shape;252;p21" title="Screenshot 2026-10-22 at 16.05.58.png">
            <a:hlinkClick action="ppaction://hlinkshowjump?jump=nextslide"/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8625" y="5991250"/>
            <a:ext cx="401777" cy="365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1"/>
          <p:cNvSpPr txBox="1"/>
          <p:nvPr/>
        </p:nvSpPr>
        <p:spPr>
          <a:xfrm>
            <a:off x="4400550" y="4470550"/>
            <a:ext cx="7153500" cy="19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55555"/>
              </a:buClr>
              <a:buSzPts val="1300"/>
              <a:buChar char="→"/>
            </a:pPr>
            <a:r>
              <a:rPr lang="en-US" sz="1300">
                <a:solidFill>
                  <a:srgbClr val="555555"/>
                </a:solidFill>
              </a:rPr>
              <a:t>Consistent Increase in Friction: Across every single age group, the Test group experienced a higher average visit duration compared to the Control group.</a:t>
            </a:r>
            <a:endParaRPr sz="1300">
              <a:solidFill>
                <a:srgbClr val="555555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Char char="→"/>
            </a:pPr>
            <a:r>
              <a:rPr lang="en-US" sz="1300">
                <a:solidFill>
                  <a:srgbClr val="555555"/>
                </a:solidFill>
              </a:rPr>
              <a:t>Peak Impact on Older Demographics: The absolute highest visit durations occurred in the 55–64 age category, peaking at 398.1 seconds in the Test variant.</a:t>
            </a:r>
            <a:endParaRPr sz="1300">
              <a:solidFill>
                <a:srgbClr val="555555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Char char="→"/>
            </a:pPr>
            <a:r>
              <a:rPr lang="en-US" sz="1300">
                <a:solidFill>
                  <a:srgbClr val="555555"/>
                </a:solidFill>
              </a:rPr>
              <a:t>Widest Gap in Youngest Users: The Under 25 demographic showed the largest relative increase, with visit times jumping by 51.1 seconds (from 223.7s to 274.8s) in the Test variant</a:t>
            </a:r>
            <a:endParaRPr sz="1300">
              <a:solidFill>
                <a:srgbClr val="555555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55555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2"/>
          <p:cNvSpPr txBox="1"/>
          <p:nvPr/>
        </p:nvSpPr>
        <p:spPr>
          <a:xfrm>
            <a:off x="4343400" y="4927750"/>
            <a:ext cx="3448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2"/>
          <p:cNvSpPr txBox="1"/>
          <p:nvPr>
            <p:ph idx="12" type="sldNum"/>
          </p:nvPr>
        </p:nvSpPr>
        <p:spPr>
          <a:xfrm>
            <a:off x="4482888" y="6384639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0" name="Google Shape;260;p22" title="Screenshot 2026-10-22 at 16.05.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2000" y="982325"/>
            <a:ext cx="8535373" cy="489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5" name="Google Shape;26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87191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25291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633912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3"/>
          <p:cNvSpPr txBox="1"/>
          <p:nvPr/>
        </p:nvSpPr>
        <p:spPr>
          <a:xfrm>
            <a:off x="762000" y="609600"/>
            <a:ext cx="11430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E1B32"/>
                </a:solidFill>
                <a:latin typeface="Open Sans"/>
                <a:ea typeface="Open Sans"/>
                <a:cs typeface="Open Sans"/>
                <a:sym typeface="Open Sans"/>
              </a:rPr>
              <a:t>07 / VISUALIZATIONS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762000" y="942975"/>
            <a:ext cx="5430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Interactive </a:t>
            </a:r>
            <a:r>
              <a:rPr b="1" i="0" lang="en-US" sz="30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Tableau</a:t>
            </a:r>
            <a:r>
              <a:rPr b="1" i="0" lang="en-US" sz="3000" u="none" cap="none" strike="noStrik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Dashboard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762000" y="3309937"/>
            <a:ext cx="535066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E1B32"/>
                </a:solidFill>
                <a:latin typeface="Montserrat"/>
                <a:ea typeface="Montserrat"/>
                <a:cs typeface="Montserrat"/>
                <a:sym typeface="Montserrat"/>
              </a:rPr>
              <a:t>Executive Dashboard Features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8214729" y="4043359"/>
            <a:ext cx="251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Tableau Dashboard Demo ]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1047750" y="3814762"/>
            <a:ext cx="388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Trace exact </a:t>
            </a:r>
            <a:r>
              <a:rPr b="1" lang="en-US" sz="135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step improvement rate</a:t>
            </a:r>
            <a:r>
              <a:rPr b="1" i="0" lang="en-US" sz="13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1047750" y="4195762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Side-by-side drop-off comparisons.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1047750" y="4576762"/>
            <a:ext cx="3886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Enables fast comparison of Test and Control performance across key user segments. </a:t>
            </a:r>
            <a:endParaRPr/>
          </a:p>
        </p:txBody>
      </p:sp>
      <p:pic>
        <p:nvPicPr>
          <p:cNvPr id="275" name="Google Shape;275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02450" y="305698"/>
            <a:ext cx="4939341" cy="6232724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3"/>
          <p:cNvSpPr txBox="1"/>
          <p:nvPr>
            <p:ph idx="12" type="sldNum"/>
          </p:nvPr>
        </p:nvSpPr>
        <p:spPr>
          <a:xfrm>
            <a:off x="6192900" y="6538425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4"/>
          <p:cNvSpPr/>
          <p:nvPr/>
        </p:nvSpPr>
        <p:spPr>
          <a:xfrm>
            <a:off x="762000" y="2371725"/>
            <a:ext cx="51054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4"/>
          <p:cNvSpPr/>
          <p:nvPr/>
        </p:nvSpPr>
        <p:spPr>
          <a:xfrm>
            <a:off x="762000" y="3324225"/>
            <a:ext cx="51054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4"/>
          <p:cNvSpPr/>
          <p:nvPr/>
        </p:nvSpPr>
        <p:spPr>
          <a:xfrm>
            <a:off x="6324600" y="2371725"/>
            <a:ext cx="51054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6324600" y="3324225"/>
            <a:ext cx="51054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762000" y="2371725"/>
            <a:ext cx="19200" cy="723900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4"/>
          <p:cNvSpPr/>
          <p:nvPr/>
        </p:nvSpPr>
        <p:spPr>
          <a:xfrm>
            <a:off x="762000" y="3324225"/>
            <a:ext cx="19200" cy="7239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4"/>
          <p:cNvSpPr/>
          <p:nvPr/>
        </p:nvSpPr>
        <p:spPr>
          <a:xfrm>
            <a:off x="6324600" y="2371725"/>
            <a:ext cx="19200" cy="723900"/>
          </a:xfrm>
          <a:prstGeom prst="rect">
            <a:avLst/>
          </a:prstGeom>
          <a:solidFill>
            <a:srgbClr val="9E1B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4"/>
          <p:cNvSpPr/>
          <p:nvPr/>
        </p:nvSpPr>
        <p:spPr>
          <a:xfrm>
            <a:off x="6324600" y="3324225"/>
            <a:ext cx="19200" cy="7239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4"/>
          <p:cNvSpPr txBox="1"/>
          <p:nvPr/>
        </p:nvSpPr>
        <p:spPr>
          <a:xfrm>
            <a:off x="762000" y="609600"/>
            <a:ext cx="11430000" cy="1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9E1B32"/>
                </a:solidFill>
                <a:latin typeface="Open Sans"/>
                <a:ea typeface="Open Sans"/>
                <a:cs typeface="Open Sans"/>
                <a:sym typeface="Open Sans"/>
              </a:rPr>
              <a:t>09 / RETROSPECTIVE</a:t>
            </a:r>
            <a:endParaRPr b="1" i="0" sz="1050">
              <a:solidFill>
                <a:srgbClr val="9E1B3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0" name="Google Shape;290;p24"/>
          <p:cNvSpPr txBox="1"/>
          <p:nvPr/>
        </p:nvSpPr>
        <p:spPr>
          <a:xfrm>
            <a:off x="762000" y="942975"/>
            <a:ext cx="114300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Challenges &amp; Learnings</a:t>
            </a:r>
            <a:endParaRPr b="1" i="0" sz="30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1" name="Google Shape;291;p24"/>
          <p:cNvSpPr txBox="1"/>
          <p:nvPr/>
        </p:nvSpPr>
        <p:spPr>
          <a:xfrm>
            <a:off x="762000" y="1866900"/>
            <a:ext cx="67008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Major Obstacles</a:t>
            </a:r>
            <a:endParaRPr b="1" i="0"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2" name="Google Shape;292;p24"/>
          <p:cNvSpPr txBox="1"/>
          <p:nvPr/>
        </p:nvSpPr>
        <p:spPr>
          <a:xfrm>
            <a:off x="6324600" y="1866900"/>
            <a:ext cx="58674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Core Learnings</a:t>
            </a:r>
            <a:endParaRPr b="1" i="0"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3" name="Google Shape;293;p24"/>
          <p:cNvSpPr txBox="1"/>
          <p:nvPr/>
        </p:nvSpPr>
        <p:spPr>
          <a:xfrm>
            <a:off x="1009650" y="2371725"/>
            <a:ext cx="6072300" cy="2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Data Integrity</a:t>
            </a:r>
            <a:endParaRPr b="1" i="0" sz="135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4" name="Google Shape;294;p24"/>
          <p:cNvSpPr txBox="1"/>
          <p:nvPr/>
        </p:nvSpPr>
        <p:spPr>
          <a:xfrm>
            <a:off x="1009650" y="2676525"/>
            <a:ext cx="4953000" cy="36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Fragmented user sessions and untagged variations required rigorous cleaning logic.</a:t>
            </a:r>
            <a:endParaRPr b="0" i="0" sz="1200">
              <a:solidFill>
                <a:srgbClr val="55555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5" name="Google Shape;295;p24"/>
          <p:cNvSpPr txBox="1"/>
          <p:nvPr/>
        </p:nvSpPr>
        <p:spPr>
          <a:xfrm>
            <a:off x="1009650" y="3324225"/>
            <a:ext cx="6072300" cy="2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Skewed Outliers</a:t>
            </a:r>
            <a:endParaRPr b="1" i="0" sz="135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6" name="Google Shape;296;p24"/>
          <p:cNvSpPr txBox="1"/>
          <p:nvPr/>
        </p:nvSpPr>
        <p:spPr>
          <a:xfrm>
            <a:off x="1009650" y="3629025"/>
            <a:ext cx="4953000" cy="36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Massive session duration outliers necessitated shifting from means to medians.</a:t>
            </a:r>
            <a:endParaRPr b="0" i="0" sz="1200">
              <a:solidFill>
                <a:srgbClr val="55555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7" name="Google Shape;297;p24"/>
          <p:cNvSpPr txBox="1"/>
          <p:nvPr/>
        </p:nvSpPr>
        <p:spPr>
          <a:xfrm>
            <a:off x="6572250" y="2371725"/>
            <a:ext cx="5619900" cy="2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Statistical vs. Practical Significance</a:t>
            </a:r>
            <a:endParaRPr b="1" i="0" sz="135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8" name="Google Shape;298;p24"/>
          <p:cNvSpPr txBox="1"/>
          <p:nvPr/>
        </p:nvSpPr>
        <p:spPr>
          <a:xfrm>
            <a:off x="6572250" y="2676525"/>
            <a:ext cx="4953000" cy="36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A massive p-value does not guarantee commercial deployment viability.</a:t>
            </a:r>
            <a:endParaRPr b="0" i="0" sz="1200">
              <a:solidFill>
                <a:srgbClr val="55555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9" name="Google Shape;299;p24"/>
          <p:cNvSpPr txBox="1"/>
          <p:nvPr/>
        </p:nvSpPr>
        <p:spPr>
          <a:xfrm>
            <a:off x="6572250" y="3324225"/>
            <a:ext cx="5619900" cy="2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Duration ≠ Friction</a:t>
            </a:r>
            <a:endParaRPr b="1" i="0" sz="135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0" name="Google Shape;300;p24"/>
          <p:cNvSpPr txBox="1"/>
          <p:nvPr/>
        </p:nvSpPr>
        <p:spPr>
          <a:xfrm>
            <a:off x="6572250" y="3629025"/>
            <a:ext cx="4953000" cy="36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Longer dwell times indicated careful terms review, leading to higher final conversion.</a:t>
            </a:r>
            <a:endParaRPr b="0" i="0" sz="1200">
              <a:solidFill>
                <a:srgbClr val="55555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1" name="Google Shape;301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5"/>
          <p:cNvSpPr/>
          <p:nvPr/>
        </p:nvSpPr>
        <p:spPr>
          <a:xfrm>
            <a:off x="762000" y="2057400"/>
            <a:ext cx="4914900" cy="3753000"/>
          </a:xfrm>
          <a:prstGeom prst="roundRect">
            <a:avLst>
              <a:gd fmla="val 203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5"/>
          <p:cNvSpPr/>
          <p:nvPr/>
        </p:nvSpPr>
        <p:spPr>
          <a:xfrm>
            <a:off x="762000" y="2057400"/>
            <a:ext cx="4914900" cy="47700"/>
          </a:xfrm>
          <a:prstGeom prst="roundRect">
            <a:avLst>
              <a:gd fmla="val 40000" name="adj"/>
            </a:avLst>
          </a:prstGeom>
          <a:solidFill>
            <a:srgbClr val="9E1B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5"/>
          <p:cNvSpPr/>
          <p:nvPr/>
        </p:nvSpPr>
        <p:spPr>
          <a:xfrm>
            <a:off x="5981700" y="2057400"/>
            <a:ext cx="5448300" cy="3753000"/>
          </a:xfrm>
          <a:prstGeom prst="roundRect">
            <a:avLst>
              <a:gd fmla="val 203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5"/>
          <p:cNvSpPr/>
          <p:nvPr/>
        </p:nvSpPr>
        <p:spPr>
          <a:xfrm>
            <a:off x="5981700" y="2057400"/>
            <a:ext cx="5448300" cy="47700"/>
          </a:xfrm>
          <a:prstGeom prst="roundRect">
            <a:avLst>
              <a:gd fmla="val 40000" name="adj"/>
            </a:avLst>
          </a:prstGeom>
          <a:solidFill>
            <a:srgbClr val="9E1B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5"/>
          <p:cNvSpPr/>
          <p:nvPr/>
        </p:nvSpPr>
        <p:spPr>
          <a:xfrm>
            <a:off x="1152525" y="3303270"/>
            <a:ext cx="4134000" cy="933600"/>
          </a:xfrm>
          <a:prstGeom prst="roundRect">
            <a:avLst>
              <a:gd fmla="val 612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5"/>
          <p:cNvSpPr/>
          <p:nvPr/>
        </p:nvSpPr>
        <p:spPr>
          <a:xfrm>
            <a:off x="6372225" y="3303270"/>
            <a:ext cx="4667400" cy="933600"/>
          </a:xfrm>
          <a:prstGeom prst="roundRect">
            <a:avLst>
              <a:gd fmla="val 612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5"/>
          <p:cNvSpPr/>
          <p:nvPr/>
        </p:nvSpPr>
        <p:spPr>
          <a:xfrm>
            <a:off x="1590675" y="3541365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5C768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5"/>
          <p:cNvSpPr/>
          <p:nvPr/>
        </p:nvSpPr>
        <p:spPr>
          <a:xfrm>
            <a:off x="2524125" y="3541365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5C768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5"/>
          <p:cNvSpPr/>
          <p:nvPr/>
        </p:nvSpPr>
        <p:spPr>
          <a:xfrm>
            <a:off x="3457575" y="3541365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5C768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5"/>
          <p:cNvSpPr/>
          <p:nvPr/>
        </p:nvSpPr>
        <p:spPr>
          <a:xfrm>
            <a:off x="4391025" y="3541365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5"/>
          <p:cNvSpPr/>
          <p:nvPr/>
        </p:nvSpPr>
        <p:spPr>
          <a:xfrm>
            <a:off x="6610350" y="3541365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5C768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5"/>
          <p:cNvSpPr/>
          <p:nvPr/>
        </p:nvSpPr>
        <p:spPr>
          <a:xfrm>
            <a:off x="7543800" y="3541365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5C768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5"/>
          <p:cNvSpPr/>
          <p:nvPr/>
        </p:nvSpPr>
        <p:spPr>
          <a:xfrm>
            <a:off x="8477250" y="3541365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5C768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5"/>
          <p:cNvSpPr/>
          <p:nvPr/>
        </p:nvSpPr>
        <p:spPr>
          <a:xfrm>
            <a:off x="9410700" y="3541365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9E1B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5"/>
          <p:cNvSpPr/>
          <p:nvPr/>
        </p:nvSpPr>
        <p:spPr>
          <a:xfrm>
            <a:off x="10344150" y="3541365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5C768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1" name="Google Shape;32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2525" y="2698402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0275" y="367471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33725" y="367471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67175" y="367471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72225" y="269840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19950" y="367471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53400" y="367471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86850" y="367471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9" name="Google Shape;329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20300" y="367471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52525" y="457482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52525" y="500345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52525" y="5432077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3" name="Google Shape;333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372225" y="457482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2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372225" y="500345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2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372225" y="5432077"/>
            <a:ext cx="2190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5"/>
          <p:cNvSpPr txBox="1"/>
          <p:nvPr/>
        </p:nvSpPr>
        <p:spPr>
          <a:xfrm>
            <a:off x="762000" y="609600"/>
            <a:ext cx="11430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E1B3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05 / UX DIAGNOSTICS</a:t>
            </a:r>
            <a:endParaRPr/>
          </a:p>
        </p:txBody>
      </p:sp>
      <p:sp>
        <p:nvSpPr>
          <p:cNvPr id="337" name="Google Shape;337;p25"/>
          <p:cNvSpPr txBox="1"/>
          <p:nvPr/>
        </p:nvSpPr>
        <p:spPr>
          <a:xfrm>
            <a:off x="762000" y="923925"/>
            <a:ext cx="1143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B13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User Case Study: Behavioral Anomalies</a:t>
            </a:r>
            <a:endParaRPr/>
          </a:p>
        </p:txBody>
      </p:sp>
      <p:sp>
        <p:nvSpPr>
          <p:cNvPr id="338" name="Google Shape;338;p25"/>
          <p:cNvSpPr txBox="1"/>
          <p:nvPr/>
        </p:nvSpPr>
        <p:spPr>
          <a:xfrm>
            <a:off x="762000" y="1579215"/>
            <a:ext cx="9525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768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Tracking edge-case sessions for Client 9988021.</a:t>
            </a:r>
            <a:endParaRPr/>
          </a:p>
        </p:txBody>
      </p:sp>
      <p:sp>
        <p:nvSpPr>
          <p:cNvPr id="339" name="Google Shape;339;p25"/>
          <p:cNvSpPr txBox="1"/>
          <p:nvPr/>
        </p:nvSpPr>
        <p:spPr>
          <a:xfrm>
            <a:off x="1504950" y="2665065"/>
            <a:ext cx="485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B13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April 12: The "Ghost" Session</a:t>
            </a:r>
            <a:endParaRPr/>
          </a:p>
        </p:txBody>
      </p:sp>
      <p:sp>
        <p:nvSpPr>
          <p:cNvPr id="340" name="Google Shape;340;p25"/>
          <p:cNvSpPr txBox="1"/>
          <p:nvPr/>
        </p:nvSpPr>
        <p:spPr>
          <a:xfrm>
            <a:off x="1447800" y="3649328"/>
            <a:ext cx="743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</a:t>
            </a:r>
            <a:endParaRPr/>
          </a:p>
        </p:txBody>
      </p:sp>
      <p:sp>
        <p:nvSpPr>
          <p:cNvPr id="341" name="Google Shape;341;p25"/>
          <p:cNvSpPr txBox="1"/>
          <p:nvPr/>
        </p:nvSpPr>
        <p:spPr>
          <a:xfrm>
            <a:off x="2381250" y="3649328"/>
            <a:ext cx="743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</a:t>
            </a:r>
            <a:endParaRPr/>
          </a:p>
        </p:txBody>
      </p:sp>
      <p:sp>
        <p:nvSpPr>
          <p:cNvPr id="342" name="Google Shape;342;p25"/>
          <p:cNvSpPr txBox="1"/>
          <p:nvPr/>
        </p:nvSpPr>
        <p:spPr>
          <a:xfrm>
            <a:off x="3314700" y="3649328"/>
            <a:ext cx="743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</a:t>
            </a:r>
            <a:endParaRPr/>
          </a:p>
        </p:txBody>
      </p:sp>
      <p:sp>
        <p:nvSpPr>
          <p:cNvPr id="343" name="Google Shape;343;p25"/>
          <p:cNvSpPr txBox="1"/>
          <p:nvPr/>
        </p:nvSpPr>
        <p:spPr>
          <a:xfrm>
            <a:off x="4248150" y="3649328"/>
            <a:ext cx="743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+4</a:t>
            </a:r>
            <a:endParaRPr/>
          </a:p>
        </p:txBody>
      </p:sp>
      <p:sp>
        <p:nvSpPr>
          <p:cNvPr id="344" name="Google Shape;344;p25"/>
          <p:cNvSpPr txBox="1"/>
          <p:nvPr/>
        </p:nvSpPr>
        <p:spPr>
          <a:xfrm>
            <a:off x="1495425" y="4541490"/>
            <a:ext cx="482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 consecutive Step 0 hits.</a:t>
            </a:r>
            <a:endParaRPr/>
          </a:p>
        </p:txBody>
      </p:sp>
      <p:sp>
        <p:nvSpPr>
          <p:cNvPr id="345" name="Google Shape;345;p25"/>
          <p:cNvSpPr txBox="1"/>
          <p:nvPr/>
        </p:nvSpPr>
        <p:spPr>
          <a:xfrm>
            <a:off x="1476375" y="4970115"/>
            <a:ext cx="4843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Exact 16-minute ping intervals.</a:t>
            </a:r>
            <a:endParaRPr/>
          </a:p>
        </p:txBody>
      </p:sp>
      <p:sp>
        <p:nvSpPr>
          <p:cNvPr id="346" name="Google Shape;346;p25"/>
          <p:cNvSpPr txBox="1"/>
          <p:nvPr/>
        </p:nvSpPr>
        <p:spPr>
          <a:xfrm>
            <a:off x="1543050" y="5398740"/>
            <a:ext cx="4776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Automated inactive tab heartbeats.</a:t>
            </a:r>
            <a:endParaRPr/>
          </a:p>
        </p:txBody>
      </p:sp>
      <p:sp>
        <p:nvSpPr>
          <p:cNvPr id="347" name="Google Shape;347;p25"/>
          <p:cNvSpPr txBox="1"/>
          <p:nvPr/>
        </p:nvSpPr>
        <p:spPr>
          <a:xfrm>
            <a:off x="6791325" y="2665065"/>
            <a:ext cx="4287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B13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April 17: The Friction Loop</a:t>
            </a:r>
            <a:endParaRPr/>
          </a:p>
        </p:txBody>
      </p:sp>
      <p:sp>
        <p:nvSpPr>
          <p:cNvPr id="348" name="Google Shape;348;p25"/>
          <p:cNvSpPr txBox="1"/>
          <p:nvPr/>
        </p:nvSpPr>
        <p:spPr>
          <a:xfrm>
            <a:off x="6467475" y="3637790"/>
            <a:ext cx="743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</a:t>
            </a:r>
            <a:endParaRPr/>
          </a:p>
        </p:txBody>
      </p:sp>
      <p:sp>
        <p:nvSpPr>
          <p:cNvPr id="349" name="Google Shape;349;p25"/>
          <p:cNvSpPr txBox="1"/>
          <p:nvPr/>
        </p:nvSpPr>
        <p:spPr>
          <a:xfrm>
            <a:off x="7400925" y="3637790"/>
            <a:ext cx="743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</a:t>
            </a:r>
            <a:endParaRPr/>
          </a:p>
        </p:txBody>
      </p:sp>
      <p:sp>
        <p:nvSpPr>
          <p:cNvPr id="350" name="Google Shape;350;p25"/>
          <p:cNvSpPr txBox="1"/>
          <p:nvPr/>
        </p:nvSpPr>
        <p:spPr>
          <a:xfrm>
            <a:off x="8334375" y="3637790"/>
            <a:ext cx="743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endParaRPr/>
          </a:p>
        </p:txBody>
      </p:sp>
      <p:sp>
        <p:nvSpPr>
          <p:cNvPr id="351" name="Google Shape;351;p25"/>
          <p:cNvSpPr txBox="1"/>
          <p:nvPr/>
        </p:nvSpPr>
        <p:spPr>
          <a:xfrm>
            <a:off x="9267825" y="3637790"/>
            <a:ext cx="743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10201275" y="3637790"/>
            <a:ext cx="743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endParaRPr/>
          </a:p>
        </p:txBody>
      </p:sp>
      <p:sp>
        <p:nvSpPr>
          <p:cNvPr id="353" name="Google Shape;353;p25"/>
          <p:cNvSpPr txBox="1"/>
          <p:nvPr/>
        </p:nvSpPr>
        <p:spPr>
          <a:xfrm>
            <a:off x="6648450" y="4541490"/>
            <a:ext cx="5543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Direct funnel progression attempt.</a:t>
            </a:r>
            <a:endParaRPr/>
          </a:p>
        </p:txBody>
      </p:sp>
      <p:sp>
        <p:nvSpPr>
          <p:cNvPr id="354" name="Google Shape;354;p25"/>
          <p:cNvSpPr txBox="1"/>
          <p:nvPr/>
        </p:nvSpPr>
        <p:spPr>
          <a:xfrm>
            <a:off x="6715125" y="4970115"/>
            <a:ext cx="5476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Blocks at Step 3 validation cliff.</a:t>
            </a:r>
            <a:endParaRPr/>
          </a:p>
        </p:txBody>
      </p:sp>
      <p:sp>
        <p:nvSpPr>
          <p:cNvPr id="355" name="Google Shape;355;p25"/>
          <p:cNvSpPr txBox="1"/>
          <p:nvPr/>
        </p:nvSpPr>
        <p:spPr>
          <a:xfrm>
            <a:off x="6743700" y="5398740"/>
            <a:ext cx="5448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Backtracks to Step 2 and abandons.</a:t>
            </a:r>
            <a:endParaRPr/>
          </a:p>
        </p:txBody>
      </p:sp>
      <p:sp>
        <p:nvSpPr>
          <p:cNvPr id="356" name="Google Shape;356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6"/>
          <p:cNvSpPr txBox="1"/>
          <p:nvPr/>
        </p:nvSpPr>
        <p:spPr>
          <a:xfrm>
            <a:off x="762000" y="514350"/>
            <a:ext cx="10668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9E1B32"/>
                </a:solidFill>
                <a:latin typeface="Open Sans"/>
                <a:ea typeface="Open Sans"/>
                <a:cs typeface="Open Sans"/>
                <a:sym typeface="Open Sans"/>
              </a:rPr>
              <a:t>09 / CONCLUSION</a:t>
            </a:r>
            <a:endParaRPr b="1" sz="1050">
              <a:solidFill>
                <a:srgbClr val="9E1B3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2" name="Google Shape;362;p26"/>
          <p:cNvSpPr txBox="1"/>
          <p:nvPr/>
        </p:nvSpPr>
        <p:spPr>
          <a:xfrm>
            <a:off x="762000" y="800100"/>
            <a:ext cx="10668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Final Verdict &amp; Recommendations</a:t>
            </a:r>
            <a:endParaRPr b="1" sz="30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63" name="Google Shape;363;p26"/>
          <p:cNvGrpSpPr/>
          <p:nvPr/>
        </p:nvGrpSpPr>
        <p:grpSpPr>
          <a:xfrm>
            <a:off x="762000" y="1524000"/>
            <a:ext cx="3352800" cy="4667400"/>
            <a:chOff x="0" y="0"/>
            <a:chExt cx="3352800" cy="4667400"/>
          </a:xfrm>
        </p:grpSpPr>
        <p:sp>
          <p:nvSpPr>
            <p:cNvPr id="364" name="Google Shape;364;p26"/>
            <p:cNvSpPr/>
            <p:nvPr/>
          </p:nvSpPr>
          <p:spPr>
            <a:xfrm>
              <a:off x="0" y="0"/>
              <a:ext cx="3352800" cy="4667400"/>
            </a:xfrm>
            <a:prstGeom prst="roundRect">
              <a:avLst>
                <a:gd fmla="val 170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6"/>
            <p:cNvSpPr/>
            <p:nvPr/>
          </p:nvSpPr>
          <p:spPr>
            <a:xfrm>
              <a:off x="0" y="0"/>
              <a:ext cx="3352800" cy="57300"/>
            </a:xfrm>
            <a:prstGeom prst="roundRect">
              <a:avLst>
                <a:gd fmla="val 50000" name="adj"/>
              </a:avLst>
            </a:prstGeom>
            <a:solidFill>
              <a:srgbClr val="9E1B3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6"/>
            <p:cNvSpPr txBox="1"/>
            <p:nvPr/>
          </p:nvSpPr>
          <p:spPr>
            <a:xfrm>
              <a:off x="304800" y="304800"/>
              <a:ext cx="2743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9E1B3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Approve Full Rollout</a:t>
              </a:r>
              <a:endParaRPr b="1" sz="1600">
                <a:solidFill>
                  <a:srgbClr val="9E1B3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67" name="Google Shape;367;p26"/>
            <p:cNvSpPr txBox="1"/>
            <p:nvPr/>
          </p:nvSpPr>
          <p:spPr>
            <a:xfrm>
              <a:off x="304800" y="781050"/>
              <a:ext cx="2743200" cy="35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555555"/>
                  </a:solidFill>
                  <a:latin typeface="Open Sans"/>
                  <a:ea typeface="Open Sans"/>
                  <a:cs typeface="Open Sans"/>
                  <a:sym typeface="Open Sans"/>
                </a:rPr>
                <a:t>Deploy the Test UI globally. Overall completions surged to 58.58% (+8.69% lift), successfully exceeding the 5% commercial growth target.</a:t>
              </a:r>
              <a:endParaRPr sz="1200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555555"/>
                  </a:solidFill>
                  <a:latin typeface="Open Sans"/>
                  <a:ea typeface="Open Sans"/>
                  <a:cs typeface="Open Sans"/>
                  <a:sym typeface="Open Sans"/>
                </a:rPr>
                <a:t>Despite minor Step 1 friction and an uneven traffic split, high statistical significance confirms overall deployment viability.</a:t>
              </a:r>
              <a:endParaRPr b="0" sz="1200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68" name="Google Shape;368;p26"/>
          <p:cNvGrpSpPr/>
          <p:nvPr/>
        </p:nvGrpSpPr>
        <p:grpSpPr>
          <a:xfrm>
            <a:off x="4419600" y="1524000"/>
            <a:ext cx="3352800" cy="4667400"/>
            <a:chOff x="0" y="0"/>
            <a:chExt cx="3352800" cy="4667400"/>
          </a:xfrm>
        </p:grpSpPr>
        <p:sp>
          <p:nvSpPr>
            <p:cNvPr id="369" name="Google Shape;369;p26"/>
            <p:cNvSpPr/>
            <p:nvPr/>
          </p:nvSpPr>
          <p:spPr>
            <a:xfrm>
              <a:off x="0" y="0"/>
              <a:ext cx="3352800" cy="4667400"/>
            </a:xfrm>
            <a:prstGeom prst="roundRect">
              <a:avLst>
                <a:gd fmla="val 170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6"/>
            <p:cNvSpPr/>
            <p:nvPr/>
          </p:nvSpPr>
          <p:spPr>
            <a:xfrm>
              <a:off x="0" y="0"/>
              <a:ext cx="3352800" cy="57300"/>
            </a:xfrm>
            <a:prstGeom prst="roundRect">
              <a:avLst>
                <a:gd fmla="val 50000" name="adj"/>
              </a:avLst>
            </a:prstGeom>
            <a:solidFill>
              <a:srgbClr val="9E1B3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6"/>
            <p:cNvSpPr txBox="1"/>
            <p:nvPr/>
          </p:nvSpPr>
          <p:spPr>
            <a:xfrm>
              <a:off x="304800" y="304800"/>
              <a:ext cx="2743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9E1B3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Diamond Tier Impact</a:t>
              </a:r>
              <a:endParaRPr b="1" sz="1600">
                <a:solidFill>
                  <a:srgbClr val="9E1B3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72" name="Google Shape;372;p26"/>
            <p:cNvSpPr txBox="1"/>
            <p:nvPr/>
          </p:nvSpPr>
          <p:spPr>
            <a:xfrm>
              <a:off x="304800" y="781050"/>
              <a:ext cx="2743200" cy="35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555555"/>
                  </a:solidFill>
                  <a:latin typeface="Open Sans"/>
                  <a:ea typeface="Open Sans"/>
                  <a:cs typeface="Open Sans"/>
                  <a:sym typeface="Open Sans"/>
                </a:rPr>
                <a:t>High-value Diamond clients experienced the largest benefit with a massive +15.31% </a:t>
              </a:r>
              <a:r>
                <a:rPr lang="en-US" sz="1200">
                  <a:solidFill>
                    <a:srgbClr val="555555"/>
                  </a:solidFill>
                  <a:latin typeface="Open Sans"/>
                  <a:ea typeface="Open Sans"/>
                  <a:cs typeface="Open Sans"/>
                  <a:sym typeface="Open Sans"/>
                </a:rPr>
                <a:t>relative</a:t>
              </a:r>
              <a:r>
                <a:rPr b="0" lang="en-US" sz="1200">
                  <a:solidFill>
                    <a:srgbClr val="555555"/>
                  </a:solidFill>
                  <a:latin typeface="Open Sans"/>
                  <a:ea typeface="Open Sans"/>
                  <a:cs typeface="Open Sans"/>
                  <a:sym typeface="Open Sans"/>
                </a:rPr>
                <a:t> lift, driving significant revenue potential.</a:t>
              </a:r>
              <a:endParaRPr b="0" sz="1200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555555"/>
                  </a:solidFill>
                  <a:latin typeface="Open Sans"/>
                  <a:ea typeface="Open Sans"/>
                  <a:cs typeface="Open Sans"/>
                  <a:sym typeface="Open Sans"/>
                </a:rPr>
                <a:t>Prioritize tailored support for Under-35</a:t>
              </a:r>
              <a:r>
                <a:rPr lang="en-US" sz="1200">
                  <a:solidFill>
                    <a:srgbClr val="555555"/>
                  </a:solidFill>
                  <a:latin typeface="Open Sans"/>
                  <a:ea typeface="Open Sans"/>
                  <a:cs typeface="Open Sans"/>
                  <a:sym typeface="Open Sans"/>
                </a:rPr>
                <a:t> years old </a:t>
              </a:r>
              <a:r>
                <a:rPr b="0" lang="en-US" sz="1200">
                  <a:solidFill>
                    <a:srgbClr val="555555"/>
                  </a:solidFill>
                  <a:latin typeface="Open Sans"/>
                  <a:ea typeface="Open Sans"/>
                  <a:cs typeface="Open Sans"/>
                  <a:sym typeface="Open Sans"/>
                </a:rPr>
                <a:t> clients (+5.09% lift) while introducing guided tooltips to aid legacy 55+ years old  clients.</a:t>
              </a:r>
              <a:endParaRPr b="0" sz="1200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73" name="Google Shape;373;p26"/>
          <p:cNvGrpSpPr/>
          <p:nvPr/>
        </p:nvGrpSpPr>
        <p:grpSpPr>
          <a:xfrm>
            <a:off x="8077200" y="1524000"/>
            <a:ext cx="3352800" cy="4667400"/>
            <a:chOff x="0" y="0"/>
            <a:chExt cx="3352800" cy="4667400"/>
          </a:xfrm>
        </p:grpSpPr>
        <p:sp>
          <p:nvSpPr>
            <p:cNvPr id="374" name="Google Shape;374;p26"/>
            <p:cNvSpPr/>
            <p:nvPr/>
          </p:nvSpPr>
          <p:spPr>
            <a:xfrm>
              <a:off x="0" y="0"/>
              <a:ext cx="3352800" cy="4667400"/>
            </a:xfrm>
            <a:prstGeom prst="roundRect">
              <a:avLst>
                <a:gd fmla="val 170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6"/>
            <p:cNvSpPr/>
            <p:nvPr/>
          </p:nvSpPr>
          <p:spPr>
            <a:xfrm>
              <a:off x="0" y="0"/>
              <a:ext cx="3352800" cy="57300"/>
            </a:xfrm>
            <a:prstGeom prst="roundRect">
              <a:avLst>
                <a:gd fmla="val 50000" name="adj"/>
              </a:avLst>
            </a:prstGeom>
            <a:solidFill>
              <a:srgbClr val="9E1B3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6"/>
            <p:cNvSpPr txBox="1"/>
            <p:nvPr/>
          </p:nvSpPr>
          <p:spPr>
            <a:xfrm>
              <a:off x="304800" y="304800"/>
              <a:ext cx="2743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9E1B3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Fix Step 3 &amp; Step 1</a:t>
              </a:r>
              <a:endParaRPr b="1" sz="1600">
                <a:solidFill>
                  <a:srgbClr val="9E1B3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77" name="Google Shape;377;p26"/>
            <p:cNvSpPr txBox="1"/>
            <p:nvPr/>
          </p:nvSpPr>
          <p:spPr>
            <a:xfrm>
              <a:off x="304800" y="781050"/>
              <a:ext cx="2743200" cy="35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555555"/>
                  </a:solidFill>
                  <a:latin typeface="Open Sans"/>
                  <a:ea typeface="Open Sans"/>
                  <a:cs typeface="Open Sans"/>
                  <a:sym typeface="Open Sans"/>
                </a:rPr>
                <a:t>Focus engineering efforts exclusively on Step 3 form validation errors, which drive 84% abandonment and create severe behavioral friction loops.</a:t>
              </a:r>
              <a:endParaRPr b="0" sz="1200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555555"/>
                  </a:solidFill>
                  <a:latin typeface="Open Sans"/>
                  <a:ea typeface="Open Sans"/>
                  <a:cs typeface="Open Sans"/>
                  <a:sym typeface="Open Sans"/>
                </a:rPr>
                <a:t>Conduct a targeted UX review on Step 1 to reduce backtracking (19.21%) and ensure form-level telemetry logging is enabled.</a:t>
              </a:r>
              <a:endParaRPr b="0" sz="1200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78" name="Google Shape;378;p2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E1B32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7"/>
          <p:cNvSpPr/>
          <p:nvPr/>
        </p:nvSpPr>
        <p:spPr>
          <a:xfrm>
            <a:off x="404850" y="4630150"/>
            <a:ext cx="11430000" cy="10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7"/>
          <p:cNvSpPr txBox="1"/>
          <p:nvPr/>
        </p:nvSpPr>
        <p:spPr>
          <a:xfrm>
            <a:off x="762000" y="946844"/>
            <a:ext cx="10715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VANGUARD GROUP</a:t>
            </a:r>
            <a:endParaRPr/>
          </a:p>
        </p:txBody>
      </p:sp>
      <p:sp>
        <p:nvSpPr>
          <p:cNvPr id="385" name="Google Shape;385;p27"/>
          <p:cNvSpPr txBox="1"/>
          <p:nvPr/>
        </p:nvSpPr>
        <p:spPr>
          <a:xfrm>
            <a:off x="1545450" y="1413869"/>
            <a:ext cx="9101100" cy="25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         </a:t>
            </a:r>
            <a:endParaRPr b="1" sz="4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Thank You</a:t>
            </a:r>
            <a:endParaRPr b="1" sz="4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         Q&amp;A Session ?</a:t>
            </a:r>
            <a:endParaRPr b="1" sz="4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6" name="Google Shape;386;p27"/>
          <p:cNvSpPr txBox="1"/>
          <p:nvPr/>
        </p:nvSpPr>
        <p:spPr>
          <a:xfrm>
            <a:off x="762000" y="4958655"/>
            <a:ext cx="10715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7"/>
          <p:cNvSpPr txBox="1"/>
          <p:nvPr/>
        </p:nvSpPr>
        <p:spPr>
          <a:xfrm>
            <a:off x="762000" y="5701605"/>
            <a:ext cx="10715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DATA ANALYTICS TEAM (</a:t>
            </a:r>
            <a:r>
              <a:rPr b="1" lang="en-US" sz="1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Slytherin)</a:t>
            </a:r>
            <a:r>
              <a:rPr b="1"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Stefano Marchiori, Zahid Wahidi, Sofija Sarafejeva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8" name="Google Shape;388;p2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